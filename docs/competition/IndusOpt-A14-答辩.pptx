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733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A2733"/>
                </a:solidFill>
                <a:latin typeface="Microsoft YaHei"/>
              </a:rPr>
              <a:t>等样本预算下的参数误差（越低越好）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参数相对误差 (%)</c:v>
                </c:pt>
              </c:strCache>
            </c:strRef>
          </c:tx>
          <c:spPr>
            <a:solidFill>
              <a:srgbClr val="5E7183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71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5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55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全量数据</c:v>
                  </c:pt>
                  <c:pt idx="1">
                    <c:v>能量启发式</c:v>
                  </c:pt>
                  <c:pt idx="2">
                    <c:v>完整加权分</c:v>
                  </c:pt>
                  <c:pt idx="3">
                    <c:v>本方案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3.25</c:v>
                </c:pt>
                <c:pt idx="1">
                  <c:v>14.82</c:v>
                </c:pt>
                <c:pt idx="2">
                  <c:v>14.81</c:v>
                </c:pt>
                <c:pt idx="3">
                  <c:v>3.49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1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同一组模型下的指标跨度（个点）</c:v>
                </c:pt>
              </c:strCache>
            </c:strRef>
          </c:tx>
          <c:spPr>
            <a:solidFill>
              <a:srgbClr val="5E71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71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一步预测 FIT</c:v>
                  </c:pt>
                  <c:pt idx="1">
                    <c:v>自由仿真 FIT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0.54</c:v>
                </c:pt>
                <c:pt idx="1">
                  <c:v>15.27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1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733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A2733"/>
                </a:solidFill>
                <a:latin typeface="Microsoft YaHei"/>
              </a:rPr>
              <a:t>S6 异构激励：20 个工作点上的胜出与满秩次数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参数误差最优次数（共 20 个工作点）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本方案</c:v>
                  </c:pt>
                  <c:pt idx="1">
                    <c:v>能量启发式</c:v>
                  </c:pt>
                  <c:pt idx="2">
                    <c:v>完整加权分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设计矩阵满秩的工作点数</c:v>
                </c:pt>
              </c:strCache>
            </c:strRef>
          </c:tx>
          <c:spPr>
            <a:solidFill>
              <a:srgbClr val="E39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本方案</c:v>
                  </c:pt>
                  <c:pt idx="1">
                    <c:v>能量启发式</c:v>
                  </c:pt>
                  <c:pt idx="2">
                    <c:v>完整加权分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1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E718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开场：这套系统解决的是赛题原文点出的痛点——有效辨识样本被海量稳态数据淹没。我们想强调的一点是：全部结论都是实测的，并且我们把对自己不利的结果也一起提交。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这一页交代问题和现有做法。重点是最后一块：赛题清单本身就是实现说明书，按字面做会同质化。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这一页是我们最想讲的发现。我们把赛题清单里的加权分按规范原样实现，作为对照基线。结果它和只看输入能量没有区别——所以问题不在特征，在形式。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核心算法一页讲完。最后一块特意写「不主张全局最优」——近似保证是有前提的，我们不夸大。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演示时就用这一句话跑通全流程。强调离线可用——赛场可能没有网络。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赛题要求用一步预测 FIT，我们改成自由仿真 FIT，并给出了不照做的实测理由。一步预测 FIT 我们没有删掉，降级为过拟合诊断量。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这一页是我们和其他队伍最不一样的地方：可信性做成了机制，而且我们主动展示对自己不利的结果。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这一页不要跳过。评委问不利结果的时候，我们已经先说了，而且每一条都给了工程解释。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敏感性扫描是为了回答「你们是不是只在一个参数上调好了」。顺带找到了我们自己的失效边界。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工程完成度。左下角那个缺陷值得讲——它是我们后来加端到端验收测试的直接原因。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收尾。把「一键自评测基准」当场演示一次，比任何一页 PPT 都有说服力。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108960"/>
            <a:ext cx="3291840" cy="3291840"/>
          </a:xfrm>
          <a:prstGeom prst="ellipse">
            <a:avLst/>
          </a:prstGeom>
          <a:solidFill>
            <a:srgbClr val="E39A2B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E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2026「数字马力杯」浙江省大学生服务外包创新应用大赛 · 赛题 A14（和利时）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IndusOpt 工模智优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E9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Agent 的流程工业建模数据智能优选与闭环寻优系统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39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不问「这段数据质量多好」，问「这段数据能给模型带来多少新信息」。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E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的数据达到全量精度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4617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28.5×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2044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E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指标区分度差距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4617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E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项后端自动化测试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7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 ·  全部数字均为实测，含对本方案不利的结果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02336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问题：有效样本被稳态淹没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42416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赛题原文：真正富含动态价值的有效辨识样本被海量稳态数据淹没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装置绝大多数时间运行在稳态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输入不动，输出也不动。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这类样本增加行数，却不增加信息。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真正能确定模型参数的，是短暂的动态片段：一次阀位调整、一次负荷升降、一次工况切换。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16052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EAF1F5"/>
          </a:solidFill>
          <a:ln w="12700">
            <a:solidFill>
              <a:srgbClr val="D3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43159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8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而且激励往往不均匀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46817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操作员在不同时期调整不同的阀，显眼的大动作集中在少数变量上。这是真实历史数据的常态，不是特例。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29400" y="2011680"/>
            <a:ext cx="384048" cy="384048"/>
          </a:xfrm>
          <a:prstGeom prst="ellipse">
            <a:avLst/>
          </a:prstGeom>
          <a:solidFill>
            <a:srgbClr val="5E7183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18562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人工圈选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2167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靠工程师翻趋势图。慢、不可复现、结果因人而异。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9260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3246120"/>
            <a:ext cx="384048" cy="384048"/>
          </a:xfrm>
          <a:prstGeom prst="ellipse">
            <a:avLst/>
          </a:prstGeom>
          <a:solidFill>
            <a:srgbClr val="5E7183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30906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加权质量评分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78040" y="3401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对滑动窗口算能量、信噪比、响应关联度，加权求和取前 K 段。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41605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7384F"/>
          </a:solidFill>
          <a:ln w="12700">
            <a:solidFill>
              <a:srgbClr val="17384F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4370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多数队伍会走第二条路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赛题任务清单本身就写着这套特征——按字面实现，各队作品会高度同质化。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C05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02336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我们把「标准答案」实现了一遍，然后发现它不成立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42416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组随机种子，异构激励场景 S6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BEEE9"/>
          </a:solidFill>
          <a:ln w="12700">
            <a:solidFill>
              <a:srgbClr val="F0D2C7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5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加权质量分 与 只看输入能量：没有区别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5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14.81%</a:t>
            </a:r>
            <a:pPr indent="0" marL="0">
              <a:buNone/>
            </a:pPr>
            <a:r>
              <a:rPr lang="en-US" sz="15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对  </a:t>
            </a:r>
            <a:pPr indent="0" marL="0">
              <a:buNone/>
            </a:pPr>
            <a:r>
              <a:rPr lang="en-US" sz="3600" b="1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参数相对误差 · 两者都秩亏 · 稳态增益被估成接近零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2793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问题不在于特征选得不够全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而在于「逐窗口独立打分」这个形式本身：评分公式里没有任何一项，能表达「这个窗口和已经选中的窗口在讲同一件事」。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46520" y="1737360"/>
          <a:ext cx="5074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02336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我们的做法：用信息量代替经验权重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42416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最大化 Fisher 信息矩阵的对数行列式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7384F"/>
          </a:solidFill>
          <a:ln w="12700">
            <a:solidFill>
              <a:srgbClr val="17384F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9019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J(S) = log det( λI + Σ ΦᵀΦ 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24505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这个准则天然表达信息冗余：一个与已选片段重复的窗口，增量增益接近零。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36941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5295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门控先于信息准则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84048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含尖峰或大段缺失的窗口「信息量」往往极高。不合格窗口在参与信息比较之前就被剔除，每条拒绝理由都被记录。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33832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11112" y="36941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35295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增量增益以 bit 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384048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「这段数据教了模型多少」是物理量，不是无量纲评分。增益低于阈值即停，不用稳态窗口凑满预算。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50200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48554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惰性贪心加速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16636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候选求值减少 4.5–4.8 倍，且逐窗口结果与朴素贪心完全一致（有测试断言）。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470916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1112" y="5020056"/>
            <a:ext cx="365760" cy="365760"/>
          </a:xfrm>
          <a:prstGeom prst="ellipse">
            <a:avLst/>
          </a:prstGeom>
          <a:solidFill>
            <a:srgbClr val="E39A2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48554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不主张全局最优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516636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1−1/e 近似保证只在单调子模、等长窗口、仅基数约束时成立。我们不把它表述为最优性。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02336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完整闭环：一句自然语言驱动全流程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42416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解析意图 → 白名单计划 → 静态合规校验 → 调度真实算法 → 汇报结论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0848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上传与规整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上传、时间规整、清洗；原始数据不可覆盖，派生版本血缘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87752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9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89504" y="182880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2464" y="2084832"/>
            <a:ext cx="420624" cy="420624"/>
          </a:xfrm>
          <a:prstGeom prst="ellipse">
            <a:avLst/>
          </a:prstGeom>
          <a:solidFill>
            <a:srgbClr val="E39A2B"/>
          </a:solidFill>
          <a:ln/>
        </p:spPr>
      </p:sp>
      <p:sp>
        <p:nvSpPr>
          <p:cNvPr id="14" name="Text 12"/>
          <p:cNvSpPr/>
          <p:nvPr/>
        </p:nvSpPr>
        <p:spPr>
          <a:xfrm>
            <a:off x="3712464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72384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72384" y="3154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质量门控 + D-最优信息增益选段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37176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9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38928" y="182880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1888" y="20848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961888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补偿与降维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3154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预白化互相关时滞估计、共线性诊断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9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88352" y="182880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11312" y="20848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71232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辨识与评价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71232" y="3154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 辨识、先验硬约束、一步 + 自由仿真双口径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36024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9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637776" y="182880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460736" y="20848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10460736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20656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闭环与交付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20656" y="3154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分级寻优、策略热启动、溯源报告、数据集导出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1F5"/>
          </a:solidFill>
          <a:ln w="12700">
            <a:solidFill>
              <a:srgbClr val="D3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840" y="49560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8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「提取 1 号塔高信噪比的动态数据，处理共线性后，通过闭环寻优找出最佳模型数据」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5840" y="53400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大模型负责提议，不负责授权：它生成的计划要通过与规则计划完全相同的白名单与合规校验；未配置大模型时系统完整可用。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02336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我们没有照做的地方：模型评价口径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42416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赛题字面要求用一步预测 FIT 做闭环目标函数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202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一个「很好」的坏模型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参数误差 15%、稳态增益完全错误、设计矩阵秩亏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它的一步预测 FIT 仍有 96.5，只比最优模型低 0.5 分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17384F"/>
          </a:solidFill>
          <a:ln w="12700">
            <a:solidFill>
              <a:srgbClr val="17384F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4069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44398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工业过程输出强自相关。一步预测用的是实测的上一时刻输出——模型只要「抄上一时刻」就能拿高分，输入通道估错几乎不受惩罚。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28.5×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自由仿真 FIT 的区分度，是一步预测 FIT 的 28.5 倍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46520" y="3246120"/>
          <a:ext cx="50749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02336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可信性不是承诺，是机制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42416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系统给出的每一个数字，都要能追到它是怎么算出来的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031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报告里的数字，大模型一个都不许写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大模型只能输出占位符，由渲染器绑定真实运行记录。含裸数字的草稿被拒绝并要求重写，连续 3 次不合规回退模板化结论。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1031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计划受静态合规校验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3337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工具白名单、执行图无环、时序合法、高影响操作门控，产出可机器复核的签名证明。计划由谁生成不重要，校验对谁都一样。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2103120"/>
            <a:ext cx="402336" cy="402336"/>
          </a:xfrm>
          <a:prstGeom prst="ellipse">
            <a:avLst/>
          </a:prstGeom>
          <a:solidFill>
            <a:srgbClr val="E39A2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系统能当场检验自己的主张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0" y="3337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产品内置「一键自评测基准」：点一次按钮实时重算全部技术主张，没有任何数字是缓存的或写死的。主张不成立，表格立刻显示。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AF1F5"/>
          </a:solidFill>
          <a:ln w="12700">
            <a:solidFill>
              <a:srgbClr val="D3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8280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8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一个实际发生的例子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1937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补入完整加权分对照后，S3 场景的排名把我们的主口径挤到了第三位。报告如实写了下来，没有删掉这组对照。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C0553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我们同时提交对自己不利的结果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9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一个只报喜的对照实验，说明不了任何问题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7384F"/>
          </a:solidFill>
          <a:ln w="12700">
            <a:solidFill>
              <a:srgbClr val="2247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476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同构激励下本方案排在末位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8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4.80% vs 加权分 3.75%、全量 3.76%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197510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6D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价值在于「不会崩」而非「永远最优」：这里差 1 个百分点，异构激励下差 11 个百分点加秩亏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7384F"/>
          </a:solidFill>
          <a:ln w="12700">
            <a:solidFill>
              <a:srgbClr val="2247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9992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预算太小时本方案同样秩亏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3375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8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预算/窗长 ≤ 2.3 时失效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302666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6D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不是准则失灵，是预算不足。已作为提示写进产品，不让工程师在不知情时拿到秩亏模型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7384F"/>
          </a:solidFill>
          <a:ln w="12700">
            <a:solidFill>
              <a:srgbClr val="2247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050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内容寻址缓存命中率仅 1.7%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4389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8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未量化阈值时更是 0%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407822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6D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真正的节省来自分级搜索（摊薄 24 倍）。据实上报，不把收益错误归因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7384F"/>
          </a:solidFill>
          <a:ln w="12700">
            <a:solidFill>
              <a:srgbClr val="2247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5102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预白化时滞 4 胜 1 负 1 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5440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8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个通道，占优但非全胜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512978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6D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系统性偏差被消除才是它的价值，不是每个通道都赢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144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7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原始数据与可复现脚本：docs/experiments/（EXP-1.1 / EXP-2.1 / EXP-3.0）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02336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结论不是单点巧合：200 个工作点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42416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种窗口长度 × 4 档样本预算 × 5 组种子 × 2 类激励场景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60920" y="182880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35240" y="20116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同构激励 S3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35240" y="239572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个工作点全部满秩，无任何策略崩溃。预算 ≥10% 后三者基本无法区分。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60920" y="39319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BEEE9"/>
          </a:solidFill>
          <a:ln w="12700">
            <a:solidFill>
              <a:srgbClr val="F0D2C7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35240" y="41148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本方案的失效边界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35240" y="449884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预算/窗长 ≤ 2.3 时本方案同样秩亏，分界干净无交叉。已写进产品：选出窗口少于 3 个即提示，但不阻断。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02336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工程完成度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042416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全部门禁通过，可复现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299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后端自动化测试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20299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03320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E2E（真实浏览器）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0299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源文件 Ruff + Mypy 全通过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18288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72600" y="20299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372600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 3.1.0 端点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7384F"/>
          </a:solidFill>
          <a:ln w="12700">
            <a:solidFill>
              <a:srgbClr val="17384F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8587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一个只有端到端测试才能发现的缺陷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2793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曾经 185 个测试全绿，而真实用户路径完全不可用——上传的 CSV 一律被拒绝。数值列筛选用了 numeric，而解析器发出的是 integer / float；基准测试走的是另一条加载路径，所以测试全过。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65760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371246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离线优先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3712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单机栈；未配置大模型时系统完整可用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440740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44622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长任务后台化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4462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 Worker 执行寻优；队列不可用时回退同步并说明路径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515721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BEEE9"/>
          </a:solidFill>
          <a:ln w="12700">
            <a:solidFill>
              <a:srgbClr val="F0D2C7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BE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75120" y="5212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尚未完成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7532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公开工业数据集外部验证、Compose 实机启动验证——如实列出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4937760" cy="493776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371600"/>
            <a:ext cx="4206240" cy="4206240"/>
          </a:xfrm>
          <a:prstGeom prst="ellipse">
            <a:avLst/>
          </a:prstGeom>
          <a:solidFill>
            <a:srgbClr val="E39A2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9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我们认为最值得看的一点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评委不需要相信我们的 PPT，</a:t>
            </a:r>
            <a:endParaRPr lang="en-US" sz="4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点一下按钮就能验证。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6D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作品无法证明自己的预处理起了作用——真实工厂数据没有真值，只能展示「曲线拟合上了」。本项目自带仿真基准与完整真值，因此可以在产品内部当场重算全部技术主张，并且把对自己不利的结果一起显示出来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IndusOpt 工模智优  ·  V1.0  ·  赛题 A14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IndusOpt 工模智优 — A14 参赛答辩</dc:title>
  <dc:subject>PptxGenJS Presentation</dc:subject>
  <dc:creator>IndusOpt</dc:creator>
  <cp:lastModifiedBy>IndusOpt</cp:lastModifiedBy>
  <cp:revision>1</cp:revision>
  <dcterms:created xsi:type="dcterms:W3CDTF">2026-08-08T08:27:21Z</dcterms:created>
  <dcterms:modified xsi:type="dcterms:W3CDTF">2026-08-08T08:27:21Z</dcterms:modified>
</cp:coreProperties>
</file>